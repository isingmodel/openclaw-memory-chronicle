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commit/9b4dceecfe69bb224a369a33a1c064003040aedd" TargetMode="External"/><Relationship Id="rId3" Type="http://schemas.openxmlformats.org/officeDocument/2006/relationships/hyperlink" Target="https://github.com/openclaw/openclaw/commit/590f3d0e8f285d02e594cd718bfe9350ea5ee267" TargetMode="External"/><Relationship Id="rId4" Type="http://schemas.openxmlformats.org/officeDocument/2006/relationships/hyperlink" Target="https://github.com/openclaw/openclaw/commit/cfd3efb6e767bcab8bbc2617913be2259e953bbb" TargetMode="External"/><Relationship Id="rId5" Type="http://schemas.openxmlformats.org/officeDocument/2006/relationships/hyperlink" Target="https://github.com/openclaw/openclaw/issues/10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issues/6877" TargetMode="External"/><Relationship Id="rId3" Type="http://schemas.openxmlformats.org/officeDocument/2006/relationships/hyperlink" Target="https://github.com/openclaw/openclaw/pull/6878" TargetMode="External"/><Relationship Id="rId4" Type="http://schemas.openxmlformats.org/officeDocument/2006/relationships/hyperlink" Target="https://github.com/openclaw/openclaw/issues/17725" TargetMode="External"/><Relationship Id="rId5" Type="http://schemas.openxmlformats.org/officeDocument/2006/relationships/hyperlink" Target="https://github.com/openclaw/openclaw/pull/3160" TargetMode="External"/><Relationship Id="rId6" Type="http://schemas.openxmlformats.org/officeDocument/2006/relationships/hyperlink" Target="https://github.com/openclaw/openclaw/pull/1149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pull/26349" TargetMode="External"/><Relationship Id="rId3" Type="http://schemas.openxmlformats.org/officeDocument/2006/relationships/hyperlink" Target="https://github.com/openclaw/openclaw/issues/20730" TargetMode="External"/><Relationship Id="rId4" Type="http://schemas.openxmlformats.org/officeDocument/2006/relationships/hyperlink" Target="https://github.com/openclaw/openclaw/pull/56707" TargetMode="External"/><Relationship Id="rId5" Type="http://schemas.openxmlformats.org/officeDocument/2006/relationships/hyperlink" Target="https://github.com/openclaw/openclaw/issues/30115" TargetMode="External"/><Relationship Id="rId6" Type="http://schemas.openxmlformats.org/officeDocument/2006/relationships/hyperlink" Target="https://github.com/openclaw/openclaw/pull/40126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pull/60569" TargetMode="External"/><Relationship Id="rId3" Type="http://schemas.openxmlformats.org/officeDocument/2006/relationships/hyperlink" Target="https://github.com/openclaw/openclaw/pull/70737" TargetMode="External"/><Relationship Id="rId4" Type="http://schemas.openxmlformats.org/officeDocument/2006/relationships/hyperlink" Target="https://github.com/openclaw/openclaw/pull/63286" TargetMode="External"/><Relationship Id="rId5" Type="http://schemas.openxmlformats.org/officeDocument/2006/relationships/hyperlink" Target="https://github.com/openclaw/openclaw/issues/64829" TargetMode="External"/><Relationship Id="rId6" Type="http://schemas.openxmlformats.org/officeDocument/2006/relationships/hyperlink" Target="https://github.com/openclaw/openclaw/pull/7076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pull/82788" TargetMode="External"/><Relationship Id="rId3" Type="http://schemas.openxmlformats.org/officeDocument/2006/relationships/hyperlink" Target="https://github.com/openclaw/openclaw/pull/87907" TargetMode="External"/><Relationship Id="rId4" Type="http://schemas.openxmlformats.org/officeDocument/2006/relationships/hyperlink" Target="https://github.com/openclaw/openclaw/issues/91216" TargetMode="External"/><Relationship Id="rId5" Type="http://schemas.openxmlformats.org/officeDocument/2006/relationships/hyperlink" Target="https://github.com/openclaw/openclaw/pull/91056" TargetMode="External"/><Relationship Id="rId6" Type="http://schemas.openxmlformats.org/officeDocument/2006/relationships/hyperlink" Target="https://github.com/openclaw/openclaw/issues/95495" TargetMode="External"/><Relationship Id="rId7" Type="http://schemas.openxmlformats.org/officeDocument/2006/relationships/hyperlink" Target="https://github.com/openclaw/openclaw/pull/9563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issues/90023" TargetMode="External"/><Relationship Id="rId3" Type="http://schemas.openxmlformats.org/officeDocument/2006/relationships/hyperlink" Target="https://github.com/openclaw/openclaw/pull/90030" TargetMode="External"/><Relationship Id="rId4" Type="http://schemas.openxmlformats.org/officeDocument/2006/relationships/hyperlink" Target="https://github.com/openclaw/openclaw/issues/100978" TargetMode="External"/><Relationship Id="rId5" Type="http://schemas.openxmlformats.org/officeDocument/2006/relationships/hyperlink" Target="https://github.com/openclaw/openclaw/pull/105057" TargetMode="External"/><Relationship Id="rId6" Type="http://schemas.openxmlformats.org/officeDocument/2006/relationships/hyperlink" Target="https://github.com/openclaw/openclaw/issues/99611" TargetMode="External"/><Relationship Id="rId7" Type="http://schemas.openxmlformats.org/officeDocument/2006/relationships/hyperlink" Target="https://github.com/openclaw/openclaw/issues/10359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openclaw/openclaw/tree/c95a8e3df1e6e8d1ea4925b615707bc97f6f52b5" TargetMode="External"/><Relationship Id="rId3" Type="http://schemas.openxmlformats.org/officeDocument/2006/relationships/hyperlink" Target="https://github.com/openclaw/openclaw/blob/c95a8e3df1e6e8d1ea4925b615707bc97f6f52b5/docs/concepts/session-search.md" TargetMode="External"/><Relationship Id="rId4" Type="http://schemas.openxmlformats.org/officeDocument/2006/relationships/hyperlink" Target="https://github.com/openclaw/openclaw/blob/c95a8e3df1e6e8d1ea4925b615707bc97f6f52b5/extensions/memory-core/src/session-search-visibility.t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기원 — 기억은 먼저 ‘사용자가 소유한 파일’이 되었다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2025-11-24 → 2026-01-07 · 세션 연속성에서 두 시간축의 의미 기억으로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02 · ORIGINS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1/7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ID·재개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본문은 아직 아님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시작 시 읽기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명시적 파일 쓰기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MEMORY.md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외부 QMD 실험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FTS5·임베딩 제안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73168" y="2340864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시작 파일 주입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수동 session-logs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복원된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시작 맥락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사람·하트비트가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일일 기록을 장기로 정제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05456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오프라인 제안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외부 QMD 명령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4251960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182436"/>
          </a:solidFill>
          <a:ln w="17145">
            <a:solidFill>
              <a:srgbClr val="3B4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제품 소유 검색 DB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아직 없음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251960"/>
            <a:ext cx="256032" cy="182880"/>
          </a:xfrm>
          <a:prstGeom prst="roundRect">
            <a:avLst/>
          </a:prstGeom>
          <a:solidFill>
            <a:srgbClr val="3B4B61"/>
          </a:solidFill>
          <a:ln w="12700">
            <a:solidFill>
              <a:srgbClr val="3B4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changes-card"/>
          <p:cNvSpPr/>
          <p:nvPr/>
        </p:nvSpPr>
        <p:spPr>
          <a:xfrm>
            <a:off x="8165592" y="1362456"/>
            <a:ext cx="3520440" cy="1481328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전환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ID만 남기던 연속성에서, 사람이 읽고 고치는 Markdown 의미 기억으로 확장했다.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구조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일일 상세 기록과 정제된 장기 파일을 분리해 최근성과 지속성을 함께 보존했다.</a:t>
            </a:r>
          </a:p>
        </p:txBody>
      </p:sp>
      <p:sp>
        <p:nvSpPr>
          <p:cNvPr id="60" name="motives-card"/>
          <p:cNvSpPr/>
          <p:nvPr/>
        </p:nvSpPr>
        <p:spPr>
          <a:xfrm>
            <a:off x="8165592" y="2971800"/>
            <a:ext cx="3520440" cy="190195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코드 추론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ID로는 사용자 사실·선호를 복원할 수 없었다. 백업 가능한 일반 에이전트 상태 계약이 필요했다.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명시 요청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파일이 늘자 검색 재현율·출처·승격이 병목이 됐다. 제안서와 Issue #102가 검색과 장기 승격을 함께 요구했다.</a:t>
            </a:r>
          </a:p>
        </p:txBody>
      </p:sp>
      <p:sp>
        <p:nvSpPr>
          <p:cNvPr id="61" name="evidence-card"/>
          <p:cNvSpPr/>
          <p:nvPr/>
        </p:nvSpPr>
        <p:spPr>
          <a:xfrm>
            <a:off x="8165592" y="5001768"/>
            <a:ext cx="3520440" cy="128016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출발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9b4dceec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590f3d0e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두 시간축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cfd3efb6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Issue #102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books/openclaw-memory-ko/02-origins-2025.md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보존에서 검색으로 — 수명주기 수집과 네이티브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2026년 1–2월 · 압축·리셋의 손실 지점을 수집기로 바꾸고 검색을 제품 기능으로 만들다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03 · JAN—FEB 2026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2/7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이력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+ 컴팩션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93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pre-compaction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/new·/reset hook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MEMORY.md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SQLite vector+FTS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관리형 QMD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memory_search/get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plugin slot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시작 주입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+ 도구 회상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하트비트·사람의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장기 기억 정제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1720" y="4251960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LanceDB를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 슬롯으로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4024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에이전트별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캐시·수명주기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changes-card"/>
          <p:cNvSpPr/>
          <p:nvPr/>
        </p:nvSpPr>
        <p:spPr>
          <a:xfrm>
            <a:off x="8165592" y="1362456"/>
            <a:ext cx="3520440" cy="1481328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수집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압축 전 플러시와 리셋 훅이 수명주기 경계에서 사라질 증거를 붙잡았다.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검색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벡터·FTS 혼합 검색과 memory_search/get을 내장하고 QMD·LanceDB를 제품 경계 안에 넣었다.</a:t>
            </a:r>
          </a:p>
        </p:txBody>
      </p:sp>
      <p:sp>
        <p:nvSpPr>
          <p:cNvPr id="60" name="motives-card"/>
          <p:cNvSpPr/>
          <p:nvPr/>
        </p:nvSpPr>
        <p:spPr>
          <a:xfrm>
            <a:off x="8165592" y="2971800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장애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#6877: 플러시가 기존 일일 파일을 덮어썼다 → 날짜 파일 append 계약을 명시했다.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접근성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#17725: OAuth 사용자는 임베딩 키가 없어 검색이 꺼졌다 → FTS-only를 정상 경로로 열었다.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외부 요청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자동 회상·수집 구현 요청을 코어에 섞지 않기 위해 배타적 플러그인 슬롯과 훅을 택했다.</a:t>
            </a:r>
          </a:p>
        </p:txBody>
      </p:sp>
      <p:sp>
        <p:nvSpPr>
          <p:cNvPr id="61" name="evidence-card"/>
          <p:cNvSpPr/>
          <p:nvPr/>
        </p:nvSpPr>
        <p:spPr>
          <a:xfrm>
            <a:off x="8165592" y="5276088"/>
            <a:ext cx="3520440" cy="1005839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손실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#6877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PR #6878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검색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#17725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PR #3160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경계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6"/>
              </a:rPr>
              <a:t>PR #1149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books/openclaw-memory-ko/03-january-february-2026.md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검색 품질에서 소유권으로 — 로컬·다국어·플러그인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2026년 3월 · 코퍼스를 넓히고, 정확성을 고치고, 메모리 정책의 주인을 옮기다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04 · MARCH 2026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3/7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대화·압축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이벤트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93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내용 해시로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신선도·중복 제어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MEMORY.md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Ollama·멀티모달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CJK trigram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선택 플러그인의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프롬프트 소유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검색 결과를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현재 문맥으로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장기 승격은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아직 수동 중심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1720" y="4251960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Honcho 등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전략의 복수성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4251960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memory-host SDK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코어 밖의 소유자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changes-card"/>
          <p:cNvSpPr/>
          <p:nvPr/>
        </p:nvSpPr>
        <p:spPr>
          <a:xfrm>
            <a:off x="8165592" y="1362456"/>
            <a:ext cx="3520440" cy="1481328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품질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로컬 Ollama·선택적 멀티모달·CJK trigram으로 공급자와 언어의 검색 공백을 줄였다.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소유권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프롬프트·플러시·도구·엔진을 memory plugin/host SDK로 옮겨 선택된 구현과 지침을 일치시켰다.</a:t>
            </a:r>
          </a:p>
        </p:txBody>
      </p:sp>
      <p:sp>
        <p:nvSpPr>
          <p:cNvPr id="60" name="motives-card"/>
          <p:cNvSpPr/>
          <p:nvPr/>
        </p:nvSpPr>
        <p:spPr>
          <a:xfrm>
            <a:off x="8165592" y="2971800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사용자 장애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#20730: 기본 FTS5가 CJK를 사실상 찾지 못했다 → tokenizer·재색인·짧은 질의 폴백을 함께 고쳤다.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관측 사건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#30115: 압축 중단·재시도 때 같은 내용이 4–7회 기록됐다 → 이벤트 횟수 대신 내용 해시를 썼다.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소유권 버그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 #40126: 대안 플러그인을 골라도 memory-core 도구를 프롬프트가 가르쳤다 → 지침 등록자를 선택 소유자로 이동했다.</a:t>
            </a:r>
          </a:p>
        </p:txBody>
      </p:sp>
      <p:sp>
        <p:nvSpPr>
          <p:cNvPr id="61" name="evidence-card"/>
          <p:cNvSpPr/>
          <p:nvPr/>
        </p:nvSpPr>
        <p:spPr>
          <a:xfrm>
            <a:off x="8165592" y="5276088"/>
            <a:ext cx="3520440" cy="1005839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로컬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PR #26349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정확성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#20730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PR #56707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경계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#30115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6"/>
              </a:rPr>
              <a:t>PR #40126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books/openclaw-memory-ko/04-march-2026.md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기억이 먼저 움직이기 시작하다 — Dreaming·Active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2026년 4월 · 관측된 회상을 승격 신호로 쓰고, 답변 전 제한 회상을 실행하다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05 · APRIL 2026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4/7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코퍼스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93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결정적 시작 주입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선제 회상 트리거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MEMORY.md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native KNN으로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후보 먼저 축소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Active Memory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가시성 필터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관련 기억을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답변 전 주입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Dreaming: 회상 신호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→ MEMORY.md 승격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05456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Memory Wiki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선택형 구조화 지식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4024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전용 스케줄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점수·체크포인트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changes-card"/>
          <p:cNvSpPr/>
          <p:nvPr/>
        </p:nvSpPr>
        <p:spPr>
          <a:xfrm>
            <a:off x="8165592" y="1362456"/>
            <a:ext cx="3520440" cy="17190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선제 회상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Active Memory가 제한된 보조 실행으로 관련 기억을 먼저 찾고 압축된 맥락만 주 답변에 넣었다.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승격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Dreaming이 빈도·질의 다양성·최신성 같은 회상 신호로 장기 승격 후보를 점수화했다.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구조화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Memory Wiki는 주장·출처·모순을 별도 선택 계층에 가두어 평면 Markdown 정본을 유지했다.</a:t>
            </a:r>
          </a:p>
        </p:txBody>
      </p:sp>
      <p:sp>
        <p:nvSpPr>
          <p:cNvPr id="60" name="motives-card"/>
          <p:cNvSpPr/>
          <p:nvPr/>
        </p:nvSpPr>
        <p:spPr>
          <a:xfrm>
            <a:off x="8165592" y="3209544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제품 요청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 #63286: 사용자가 검색을 요구하지 않아도 선호·개인 사실을 떠올리게 하되, 주 모델 비용은 제한해야 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운영 측정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#64829의 높은 query 지연 → 값싼 search를 기본으로 두고 비싼 재순위화는 선택으로 남겼다.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수명주기·보안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하트비트가 꺼지면 Dreaming도 멈췄고, 세션 결과는 가시성 규칙이 필요했다 → 전용 일정과 공통 필터로 분리했다.</a:t>
            </a:r>
          </a:p>
        </p:txBody>
      </p:sp>
      <p:sp>
        <p:nvSpPr>
          <p:cNvPr id="61" name="evidence-card"/>
          <p:cNvSpPr/>
          <p:nvPr/>
        </p:nvSpPr>
        <p:spPr>
          <a:xfrm>
            <a:off x="8165592" y="5513832"/>
            <a:ext cx="3520440" cy="768095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PR #60569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PR #70737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회상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PR #63286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#64829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권한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6"/>
              </a:rPr>
              <a:t>PR #70761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books/openclaw-memory-ko/05-april-2026.md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관련성만으로는 부족하다 — 권한·실패 투명성·SQLite 상태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2026년 5–6월 · ‘잘 찾음’과 ‘행동해도 됨’을 분리하고 기계 상태의 소유자를 하나로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06 · MAY—JUNE 2026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5/7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정식 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accessor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93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코퍼스 경계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정체성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7802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MEMORY.md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정체성 검사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shadow rebuild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관련성 ≠ 행동 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진단 후 명시 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허용된 결과만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현재 문맥으로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장기 승격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1720" y="4251960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QMD·LanceDB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Wiki 선택 계층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4251960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Dreaming·색인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→ agent SQLite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22592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changes-card"/>
          <p:cNvSpPr/>
          <p:nvPr/>
        </p:nvSpPr>
        <p:spPr>
          <a:xfrm>
            <a:off x="8165592" y="1362456"/>
            <a:ext cx="3520440" cy="17190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권한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승인·만료·출처 권한이 필요한 기억에 행동 메타데이터를 붙여 사실 보존과 실행 허가를 분리했다.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신뢰성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provider/model 불일치·재색인·이벤트 루프 병목을 조용한 저하가 아니라 진단·복구 계약으로 만들었다.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상태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 기계 상태와 메모리 색인을 에이전트별 SQLite로 합치고 doctor가 일회성 이전을 맡았다.</a:t>
            </a:r>
          </a:p>
        </p:txBody>
      </p:sp>
      <p:sp>
        <p:nvSpPr>
          <p:cNvPr id="60" name="motives-card"/>
          <p:cNvSpPr/>
          <p:nvPr/>
        </p:nvSpPr>
        <p:spPr>
          <a:xfrm>
            <a:off x="8165592" y="3209544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제품 요청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 #82788: 평문 Markdown은 유지하되 승인·인계·만료처럼 행동 민감한 기억에는 경계를 적어야 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실패 사건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#91216: 교체 중 DB가 비거나 WAL/SHM과 어긋날 수 있었다 → 그림자 DB를 검증한 뒤 원자적으로 게시했다.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업그레이드 비용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#95495: 1,499개 파일이 재임베딩됐다 → 런타임 이중 읽기 대신 doctor가 기존 파생 상태를 검증·가져왔다.</a:t>
            </a:r>
          </a:p>
        </p:txBody>
      </p:sp>
      <p:sp>
        <p:nvSpPr>
          <p:cNvPr id="61" name="evidence-card"/>
          <p:cNvSpPr/>
          <p:nvPr/>
        </p:nvSpPr>
        <p:spPr>
          <a:xfrm>
            <a:off x="8165592" y="5513832"/>
            <a:ext cx="3520440" cy="768095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권한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PR #82788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PR #87907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복구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#91216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PR #91056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이전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6"/>
              </a:rPr>
              <a:t>#95495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7"/>
              </a:rPr>
              <a:t>PR #95631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books/openclaw-memory-ko/06-may-june-2026.md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 자체가 정식 코퍼스가 되다 — 정확 검색·가져오기·보호된 회상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2026년 7월 · transcript 원본, 검색 도구, 하네스 이동성, 에이전트 소유권을 한 경계로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07 · JULY 2026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6/7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SQLite sessions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+ transcript_events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6304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가져오기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코퍼스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Markdown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+ imports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session exact FTS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+ semantic search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52234F"/>
          </a:solidFill>
          <a:ln w="1714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보호된 대화 간 회상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same-agent private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61888" y="2340864"/>
            <a:ext cx="512064" cy="182880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MAIN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허용된 근거만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답변 문맥으로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MEMORY.md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원자적 쓰기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05456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Wiki·LanceDB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agent-scoped 소유권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4024" y="4251960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52234F"/>
          </a:solidFill>
          <a:ln w="1714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coordination·cache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journal → SQLite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66560" y="4251960"/>
            <a:ext cx="512064" cy="182880"/>
          </a:xfrm>
          <a:prstGeom prst="roundRect">
            <a:avLst/>
          </a:prstGeom>
          <a:solidFill>
            <a:srgbClr val="F472B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MAIN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" y="5797296"/>
            <a:ext cx="6976872" cy="27432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0" bIns="0" wrap="square">
            <a:noAutofit/>
          </a:bodyPr>
          <a:lstStyle/>
          <a:p>
            <a:pPr algn="ctr"/>
            <a:r>
              <a:rPr sz="730" b="1">
                <a:solidFill>
                  <a:srgbClr val="7DD3FC"/>
                </a:solidFill>
                <a:latin typeface="Apple SD Gothic Neo"/>
                <a:ea typeface="Apple SD Gothic Neo"/>
                <a:cs typeface="Apple SD Gothic Neo"/>
              </a:rPr>
              <a:t>분홍색 MAIN은 조사 기준 main에만 있고 당시 출시 태그가 없던 경로를 포함한다.</a:t>
            </a:r>
          </a:p>
        </p:txBody>
      </p:sp>
      <p:sp>
        <p:nvSpPr>
          <p:cNvPr id="60" name="changes-card"/>
          <p:cNvSpPr/>
          <p:nvPr/>
        </p:nvSpPr>
        <p:spPr>
          <a:xfrm>
            <a:off x="8165592" y="1362456"/>
            <a:ext cx="3520440" cy="17190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이번 장에서 바뀐 것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정식 원본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메타데이터와 transcript를 에이전트별 SQLite의 단일 런타임 원본으로 만들고 정확 FTS를 같은 트랜잭션에 뒀다.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이동성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Codex·Claude Code·Hermes 기억을 계획·미리보기·백업·되돌리기로 가져오되 실행 설정은 복제하지 않았다.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보호 회상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같은 에이전트의 다른 비공개 대화만 결과별로 허용하고, 소유권 불명·공유 별칭·샌드박스는 실패 시 차단했다.</a:t>
            </a:r>
          </a:p>
        </p:txBody>
      </p:sp>
      <p:sp>
        <p:nvSpPr>
          <p:cNvPr id="61" name="motives-card"/>
          <p:cNvSpPr/>
          <p:nvPr/>
        </p:nvSpPr>
        <p:spPr>
          <a:xfrm>
            <a:off x="8165592" y="3209544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왜 이 형태로 바뀌었나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운영 장애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#90023: QMD 검색 실패가 강제 동기화·임베딩으로 이어져 수십 초 멈췄다 → 전경 실패와 명시 복구를 분리했다.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발견성 공백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#100978: 목록은 본문을 못 찾고 이력은 키가 필요했다 → 의미 검색과 별도의 sessions_search를 만들었다.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누출·연속성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Issue #99611의 비공개 표면 간 맥락 손실과 #103590의 에이전트 간 노출 → 회상 권한과 저장 소유권을 행 단위로 강제했다.</a:t>
            </a:r>
          </a:p>
        </p:txBody>
      </p:sp>
      <p:sp>
        <p:nvSpPr>
          <p:cNvPr id="62" name="evidence-card"/>
          <p:cNvSpPr/>
          <p:nvPr/>
        </p:nvSpPr>
        <p:spPr>
          <a:xfrm>
            <a:off x="8165592" y="5513832"/>
            <a:ext cx="3520440" cy="768095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지연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#90023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PR #90030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검색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#100978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5"/>
              </a:rPr>
              <a:t>PR #105057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경계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6"/>
              </a:rPr>
              <a:t>#99611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7"/>
              </a:rPr>
              <a:t>#103590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books/openclaw-memory-ko/07-july-2026.md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4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32004" cy="6858000"/>
          </a:xfrm>
          <a:prstGeom prst="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82880"/>
            <a:ext cx="87782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현재 구조 — 한 문장은 어떻게 기억이 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21792"/>
            <a:ext cx="900684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3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2026-07-19 main @ c95a8e3df1e6 · 대화 원본과 의미 원본이 갈라지고, 검색·권한 뒤 다시 합쳐진다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65208" y="256032"/>
            <a:ext cx="2020824" cy="347472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Autofit/>
          </a:bodyPr>
          <a:lstStyle/>
          <a:p>
            <a:pPr algn="ctr"/>
            <a:r>
              <a:rPr sz="930" b="1">
                <a:solidFill>
                  <a:srgbClr val="54D2E8"/>
                </a:solidFill>
                <a:latin typeface="Menlo"/>
                <a:ea typeface="Menlo"/>
                <a:cs typeface="Menlo"/>
              </a:rPr>
              <a:t>01 · CURRENT ARCHITECTURE</a:t>
            </a:r>
          </a:p>
        </p:txBody>
      </p:sp>
      <p:sp>
        <p:nvSpPr>
          <p:cNvPr id="7" name="timeline-0"/>
          <p:cNvSpPr/>
          <p:nvPr/>
        </p:nvSpPr>
        <p:spPr>
          <a:xfrm>
            <a:off x="512064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2025 기원</a:t>
            </a:r>
          </a:p>
        </p:txBody>
      </p:sp>
      <p:sp>
        <p:nvSpPr>
          <p:cNvPr id="8" name="timeline-1"/>
          <p:cNvSpPr/>
          <p:nvPr/>
        </p:nvSpPr>
        <p:spPr>
          <a:xfrm>
            <a:off x="2118795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1–2월</a:t>
            </a:r>
          </a:p>
        </p:txBody>
      </p:sp>
      <p:sp>
        <p:nvSpPr>
          <p:cNvPr id="9" name="timeline-2"/>
          <p:cNvSpPr/>
          <p:nvPr/>
        </p:nvSpPr>
        <p:spPr>
          <a:xfrm>
            <a:off x="3725526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3월</a:t>
            </a:r>
          </a:p>
        </p:txBody>
      </p:sp>
      <p:sp>
        <p:nvSpPr>
          <p:cNvPr id="10" name="timeline-3"/>
          <p:cNvSpPr/>
          <p:nvPr/>
        </p:nvSpPr>
        <p:spPr>
          <a:xfrm>
            <a:off x="5332258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4월</a:t>
            </a:r>
          </a:p>
        </p:txBody>
      </p:sp>
      <p:sp>
        <p:nvSpPr>
          <p:cNvPr id="11" name="timeline-4"/>
          <p:cNvSpPr/>
          <p:nvPr/>
        </p:nvSpPr>
        <p:spPr>
          <a:xfrm>
            <a:off x="6938989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5–6월</a:t>
            </a:r>
          </a:p>
        </p:txBody>
      </p:sp>
      <p:sp>
        <p:nvSpPr>
          <p:cNvPr id="12" name="timeline-5"/>
          <p:cNvSpPr/>
          <p:nvPr/>
        </p:nvSpPr>
        <p:spPr>
          <a:xfrm>
            <a:off x="8545721" y="987552"/>
            <a:ext cx="1533579" cy="228600"/>
          </a:xfrm>
          <a:prstGeom prst="roundRect">
            <a:avLst/>
          </a:prstGeom>
          <a:solidFill>
            <a:srgbClr val="101C2D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7월</a:t>
            </a:r>
          </a:p>
        </p:txBody>
      </p:sp>
      <p:sp>
        <p:nvSpPr>
          <p:cNvPr id="13" name="timeline-6"/>
          <p:cNvSpPr/>
          <p:nvPr/>
        </p:nvSpPr>
        <p:spPr>
          <a:xfrm>
            <a:off x="10152452" y="987552"/>
            <a:ext cx="1533579" cy="228600"/>
          </a:xfrm>
          <a:prstGeom prst="roundRect">
            <a:avLst/>
          </a:prstGeom>
          <a:solidFill>
            <a:srgbClr val="68470E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>
            <a:noAutofit/>
          </a:bodyPr>
          <a:lstStyle/>
          <a:p>
            <a:pPr algn="ctr"/>
            <a:r>
              <a:rPr sz="819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37960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30" b="0">
                <a:solidFill>
                  <a:srgbClr val="9CAABD"/>
                </a:solidFill>
                <a:latin typeface="Menlo"/>
                <a:ea typeface="Menlo"/>
                <a:cs typeface="Menlo"/>
              </a:rPr>
              <a:t>7/7</a:t>
            </a:r>
          </a:p>
        </p:txBody>
      </p:sp>
      <p:sp>
        <p:nvSpPr>
          <p:cNvPr id="15" name="architecture-panel"/>
          <p:cNvSpPr/>
          <p:nvPr/>
        </p:nvSpPr>
        <p:spPr>
          <a:xfrm>
            <a:off x="512064" y="1362456"/>
            <a:ext cx="7434072" cy="4919472"/>
          </a:xfrm>
          <a:prstGeom prst="roundRect">
            <a:avLst/>
          </a:prstGeom>
          <a:solidFill>
            <a:srgbClr val="101C2D"/>
          </a:solidFill>
          <a:ln w="14604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4904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2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고정 아키텍처 지도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490472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19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같은 좌표 · 같은 크기 · 새 층만 강조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1517904"/>
            <a:ext cx="109728" cy="109728"/>
          </a:xfrm>
          <a:prstGeom prst="roundRect">
            <a:avLst/>
          </a:prstGeom>
          <a:solidFill>
            <a:srgbClr val="38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9864" y="1517904"/>
            <a:ext cx="109728" cy="109728"/>
          </a:xfrm>
          <a:prstGeom prst="roundRect">
            <a:avLst/>
          </a:prstGeom>
          <a:solidFill>
            <a:srgbClr val="F3B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이번 변화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37376" y="1517904"/>
            <a:ext cx="109728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04888" y="1517904"/>
            <a:ext cx="109728" cy="109728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485900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main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hitecture-arrow-0"/>
          <p:cNvSpPr txBox="1"/>
          <p:nvPr/>
        </p:nvSpPr>
        <p:spPr>
          <a:xfrm>
            <a:off x="178765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4436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-arrow-1"/>
          <p:cNvSpPr txBox="1"/>
          <p:nvPr/>
        </p:nvSpPr>
        <p:spPr>
          <a:xfrm>
            <a:off x="297637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3308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-arrow-2"/>
          <p:cNvSpPr txBox="1"/>
          <p:nvPr/>
        </p:nvSpPr>
        <p:spPr>
          <a:xfrm>
            <a:off x="416509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2180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rchitecture-arrow-3"/>
          <p:cNvSpPr txBox="1"/>
          <p:nvPr/>
        </p:nvSpPr>
        <p:spPr>
          <a:xfrm>
            <a:off x="535381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10528" y="2935224"/>
            <a:ext cx="164592" cy="0"/>
          </a:xfrm>
          <a:prstGeom prst="line">
            <a:avLst/>
          </a:prstGeom>
          <a:ln w="19050">
            <a:solidFill>
              <a:srgbClr val="60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hitecture-arrow-4"/>
          <p:cNvSpPr txBox="1"/>
          <p:nvPr/>
        </p:nvSpPr>
        <p:spPr>
          <a:xfrm>
            <a:off x="6542532" y="2761488"/>
            <a:ext cx="100583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36" name="architecture-node-0"/>
          <p:cNvSpPr/>
          <p:nvPr/>
        </p:nvSpPr>
        <p:spPr>
          <a:xfrm>
            <a:off x="7315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대화·세션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transcript_events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정식 대화 원본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93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38" name="architecture-node-1"/>
          <p:cNvSpPr/>
          <p:nvPr/>
        </p:nvSpPr>
        <p:spPr>
          <a:xfrm>
            <a:off x="192024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수집·선별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write / flush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reset hook / import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7802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0" name="architecture-node-2"/>
          <p:cNvSpPr/>
          <p:nvPr/>
        </p:nvSpPr>
        <p:spPr>
          <a:xfrm>
            <a:off x="310896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의미 원본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daily + MEMORY.md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사람 편집 원본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6674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2" name="architecture-node-3"/>
          <p:cNvSpPr/>
          <p:nvPr/>
        </p:nvSpPr>
        <p:spPr>
          <a:xfrm>
            <a:off x="429768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파생 색인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session FTS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memory FTS·vector/QMD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5546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4" name="architecture-node-4"/>
          <p:cNvSpPr/>
          <p:nvPr/>
        </p:nvSpPr>
        <p:spPr>
          <a:xfrm>
            <a:off x="5486400" y="2304288"/>
            <a:ext cx="1024128" cy="1261872"/>
          </a:xfrm>
          <a:prstGeom prst="roundRect">
            <a:avLst/>
          </a:prstGeom>
          <a:solidFill>
            <a:srgbClr val="68470E"/>
          </a:solidFill>
          <a:ln w="17145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회수·권한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검색 → 권한 → 인용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history/search/Active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340864"/>
            <a:ext cx="256032" cy="182880"/>
          </a:xfrm>
          <a:prstGeom prst="roundRect">
            <a:avLst/>
          </a:prstGeom>
          <a:solidFill>
            <a:srgbClr val="F3B63F"/>
          </a:solidFill>
          <a:ln w="12700">
            <a:solidFill>
              <a:srgbClr val="F3B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85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46" name="architecture-node-5"/>
          <p:cNvSpPr/>
          <p:nvPr/>
        </p:nvSpPr>
        <p:spPr>
          <a:xfrm>
            <a:off x="6675120" y="2304288"/>
            <a:ext cx="1024128" cy="1261872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이번 실행의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모델 문맥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2904" y="2340864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" y="3803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선택적 제어면 · 대안 구현 · 기계 상태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98464" y="3566160"/>
            <a:ext cx="0" cy="57607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69364" y="4142232"/>
            <a:ext cx="0" cy="73152"/>
          </a:xfrm>
          <a:prstGeom prst="line">
            <a:avLst/>
          </a:prstGeom>
          <a:ln w="13335">
            <a:solidFill>
              <a:srgbClr val="F3B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13248" y="36667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20" b="0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회수 신호 / 사람 판단</a:t>
            </a:r>
          </a:p>
        </p:txBody>
      </p:sp>
      <p:sp>
        <p:nvSpPr>
          <p:cNvPr id="52" name="architecture-support-0"/>
          <p:cNvSpPr/>
          <p:nvPr/>
        </p:nvSpPr>
        <p:spPr>
          <a:xfrm>
            <a:off x="740664" y="4215384"/>
            <a:ext cx="2057400" cy="1106424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승격·통합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Dreaming: 회상 증거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→ 장기 승격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49424" y="4251960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4" name="architecture-support-1"/>
          <p:cNvSpPr/>
          <p:nvPr/>
        </p:nvSpPr>
        <p:spPr>
          <a:xfrm>
            <a:off x="2999232" y="4215384"/>
            <a:ext cx="2057400" cy="1106424"/>
          </a:xfrm>
          <a:prstGeom prst="roundRect">
            <a:avLst/>
          </a:prstGeom>
          <a:solidFill>
            <a:srgbClr val="352550"/>
          </a:solidFill>
          <a:ln w="1714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대안·구조화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LanceDB·Wiki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Honcho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992" y="4251960"/>
            <a:ext cx="512064" cy="182880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</a:p>
        </p:txBody>
      </p:sp>
      <p:sp>
        <p:nvSpPr>
          <p:cNvPr id="56" name="architecture-support-2"/>
          <p:cNvSpPr/>
          <p:nvPr/>
        </p:nvSpPr>
        <p:spPr>
          <a:xfrm>
            <a:off x="5257800" y="4215384"/>
            <a:ext cx="2057400" cy="1106424"/>
          </a:xfrm>
          <a:prstGeom prst="roundRect">
            <a:avLst/>
          </a:prstGeom>
          <a:solidFill>
            <a:srgbClr val="123E54"/>
          </a:solidFill>
          <a:ln w="17145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18872" bIns="54864" wrap="square">
            <a:normAutofit/>
          </a:bodyPr>
          <a:lstStyle/>
          <a:p>
            <a:pPr algn="ctr"/>
            <a:r>
              <a:rPr sz="108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운영 상태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Menlo"/>
                <a:ea typeface="Menlo"/>
                <a:cs typeface="Menlo"/>
              </a:rPr>
              <a:t>per-agent SQLite</a:t>
            </a:r>
          </a:p>
          <a:p>
            <a:pPr algn="ctr">
              <a:spcBef>
                <a:spcPts val="250"/>
              </a:spcBef>
            </a:pPr>
            <a:r>
              <a:rPr sz="86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cache·state·journal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48856" y="4251960"/>
            <a:ext cx="429768" cy="182880"/>
          </a:xfrm>
          <a:prstGeom prst="roundRect">
            <a:avLst/>
          </a:prstGeom>
          <a:solidFill>
            <a:srgbClr val="38A6C2"/>
          </a:solidFill>
          <a:ln w="12700">
            <a:solidFill>
              <a:srgbClr val="38A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 wrap="square">
            <a:noAutofit/>
          </a:bodyPr>
          <a:lstStyle/>
          <a:p>
            <a:pPr algn="ctr"/>
            <a:r>
              <a:rPr sz="650" b="1">
                <a:solidFill>
                  <a:srgbClr val="08111F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" y="550468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승격은 의미 원본을 갱신하지만, 색인·캐시·조정 상태는 원본에서 재구축되거나 별도 수명주기를 가진다.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" y="5797296"/>
            <a:ext cx="6976872" cy="27432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0" bIns="0" wrap="square">
            <a:noAutofit/>
          </a:bodyPr>
          <a:lstStyle/>
          <a:p>
            <a:pPr algn="ctr"/>
            <a:r>
              <a:rPr sz="730" b="1">
                <a:solidFill>
                  <a:srgbClr val="7DD3FC"/>
                </a:solidFill>
                <a:latin typeface="Apple SD Gothic Neo"/>
                <a:ea typeface="Apple SD Gothic Neo"/>
                <a:cs typeface="Apple SD Gothic Neo"/>
              </a:rPr>
              <a:t>정식 원본: SQLite transcript + Markdown 의미 기억 · 파생 상태: FTS/vector/QMD</a:t>
            </a:r>
          </a:p>
        </p:txBody>
      </p:sp>
      <p:sp>
        <p:nvSpPr>
          <p:cNvPr id="60" name="changes-card"/>
          <p:cNvSpPr/>
          <p:nvPr/>
        </p:nvSpPr>
        <p:spPr>
          <a:xfrm>
            <a:off x="8165592" y="1362456"/>
            <a:ext cx="3520440" cy="17190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ORBIT-10 한 문장의 경로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자동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정상 차례는 transcript_events와 정확 대화 FTS에 남는다.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조건부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‘기억해 줘’만으로 MEMORY.md가 되지 않는다. 실제 파일 쓰기·정제·Dreaming 승격이 필요하다.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F3B63F"/>
                </a:solidFill>
                <a:latin typeface="Apple SD Gothic Neo"/>
                <a:ea typeface="Apple SD Gothic Neo"/>
                <a:cs typeface="Apple SD Gothic Neo"/>
              </a:rPr>
              <a:t>파생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벡터·FTS·QMD는 기억을 만들지 않는다. 원본을 다시 찾는 재구축 가능한 표현이다.</a:t>
            </a:r>
          </a:p>
        </p:txBody>
      </p:sp>
      <p:sp>
        <p:nvSpPr>
          <p:cNvPr id="61" name="motives-card"/>
          <p:cNvSpPr/>
          <p:nvPr/>
        </p:nvSpPr>
        <p:spPr>
          <a:xfrm>
            <a:off x="8165592" y="3209544"/>
            <a:ext cx="3520440" cy="2176272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09728" bIns="73152" wrap="square">
            <a:normAutofit/>
          </a:bodyPr>
          <a:lstStyle/>
          <a:p>
            <a:pPr algn="ctr"/>
            <a:r>
              <a:rPr sz="100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현재 구조의 세 가지 불변식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같은 세션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이력 재생과 컴팩션이 우선이다. 컴팩션 요약은 장기 기억이 아니며, 플러시는 날짜 파일에만 append한다.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다른 시간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정확 문자열은 sessions_search, 의미 질문은 memory_search 또는 보호된 Active Memory가 맡는다.</a:t>
            </a:r>
          </a:p>
          <a:p>
            <a:pPr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101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• </a:t>
            </a:r>
            <a:r>
              <a:rPr sz="940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권한  </a:t>
            </a:r>
            <a:r>
              <a:rPr sz="940" b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세션 결과는 에이전트·대화 유형·별칭·요청자 검사를 통과한 뒤에만 인용·주입·Dreaming 신호가 된다.</a:t>
            </a:r>
          </a:p>
        </p:txBody>
      </p:sp>
      <p:sp>
        <p:nvSpPr>
          <p:cNvPr id="62" name="evidence-card"/>
          <p:cNvSpPr/>
          <p:nvPr/>
        </p:nvSpPr>
        <p:spPr>
          <a:xfrm>
            <a:off x="8165592" y="5513832"/>
            <a:ext cx="3520440" cy="768095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263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91440" bIns="54864" wrap="square">
            <a:normAutofit/>
          </a:bodyPr>
          <a:lstStyle/>
          <a:p>
            <a:pPr algn="ctr"/>
            <a:r>
              <a:rPr sz="969" b="1">
                <a:solidFill>
                  <a:srgbClr val="54D2E8"/>
                </a:solidFill>
                <a:latin typeface="Apple SD Gothic Neo"/>
                <a:ea typeface="Apple SD Gothic Neo"/>
                <a:cs typeface="Apple SD Gothic Neo"/>
              </a:rPr>
              <a:t>핵심 근거 · 클릭하여 열기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기준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2"/>
              </a:rPr>
              <a:t>main c95a8e3d</a:t>
            </a:r>
          </a:p>
          <a:p>
            <a:pPr>
              <a:spcBef>
                <a:spcPts val="450"/>
              </a:spcBef>
            </a:pPr>
            <a:r>
              <a:rPr sz="819" b="1">
                <a:solidFill>
                  <a:srgbClr val="9CAABD"/>
                </a:solidFill>
                <a:latin typeface="Apple SD Gothic Neo"/>
                <a:ea typeface="Apple SD Gothic Neo"/>
                <a:cs typeface="Apple SD Gothic Neo"/>
              </a:rPr>
              <a:t>계약 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3"/>
              </a:rPr>
              <a:t>session-search</a:t>
            </a:r>
            <a:r>
              <a:rPr sz="819" b="0">
                <a:solidFill>
                  <a:srgbClr val="607086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819" b="1" u="sng">
                <a:solidFill>
                  <a:srgbClr val="7DD3FC"/>
                </a:solidFill>
                <a:latin typeface="Menlo"/>
                <a:ea typeface="Menlo"/>
                <a:cs typeface="Menlo"/>
                <a:hlinkClick r:id="rId4"/>
              </a:rPr>
              <a:t>visibility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" y="6528816"/>
            <a:ext cx="80467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SOURCE  books/openclaw-memory-ko/01-current-architecture.md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652881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770" b="0">
                <a:solidFill>
                  <a:srgbClr val="607086"/>
                </a:solidFill>
                <a:latin typeface="Menlo"/>
                <a:ea typeface="Menlo"/>
                <a:cs typeface="Menlo"/>
              </a:rPr>
              <a:t>OpenClaw Memory · Evolution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Memory: Architecture Evolution</dc:title>
  <dc:subject>OpenClaw memory architecture from origins to the current main branch</dc:subject>
  <dc:creator>OpenClaw Memory</dc:creator>
  <cp:keywords>OpenClaw, memory, architecture, evolution, Korean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